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ACADEMIC PROJECT PRESENTATION • SEMESTER 5</a:t>
            </a:r>
          </a:p>
          <a:p>
            <a:pPr>
              <a:spcBef>
                <a:spcPts val="1200"/>
              </a:spcBef>
              <a:defRPr sz="4000" b="1">
                <a:solidFill>
                  <a:srgbClr val="F1F5F9"/>
                </a:solidFill>
              </a:defRPr>
            </a:pPr>
            <a:r>
              <a:t>Online Examination &amp;</a:t>
            </a:r>
            <a:br/>
            <a:r>
              <a:t>Proctoring System (ExamPortal)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A Full-Stack Cloud Architecture for Remote Academic Assessments with Live Fraud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103327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Presented by: Ankit Patel  |  Course: JavaScript Frameworks  |  Tech Stack: React 18, Node.js, Express, MongoDB Atlas, Socket.IO</a:t>
            </a:r>
          </a:p>
          <a:p>
            <a:pPr>
              <a:spcBef>
                <a:spcPts val="800"/>
              </a:spcBef>
              <a:defRPr sz="1200">
                <a:solidFill>
                  <a:srgbClr val="34D399"/>
                </a:solidFill>
              </a:defRPr>
            </a:pPr>
            <a:r>
              <a:t>🌐 Live Public URL: https://online-examination-proctoring.vercel.app  •  Backend: Render Cloud  •  Status: 100% Deployed &amp;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POINT 1 • CORE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1. Project Definition, Objective &amp; Problem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Problem Understanding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Traditional Exams Bottlenecks: Heavy printing and invigilation expenses, slow error-prone manual grading, geographical limitations.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Naive Quiz Portals Flaws: Google Forms / basic LMS allow uncontrolled tab switching, AI assistant pasting (ChatGPT), and client-side clock tampering.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The Need: A zero-plugin web platform providing server-authoritative timings, live cheat detection, and instant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Core Project Objectives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Academic Integrity Protection: Detect tab switching (Page Visibility API) and full-screen exits with live webcam preview.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Server-Authoritative Clock: Calculate deadlines on backend (min(startedAt + duration, endTime)), preventing client-side timer manipulation.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Instant Auto-Grading: Zero-latency evaluation of MCQs and True/False with configurable negative marking deductions.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Multi-Role Governance: Dedicated portals for Admin, Teacher, and Student with immutable audit logging.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Cloud Production Availability: Stateless JWT httpOnly cookie security deployed across Vercel, Render, and MongoDB Atlas.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POINT 2 • FEASIBILITY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2. Technical Feasibility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Frontend Tier: React 18 + Vite 8 + Tailwind CSS v3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Zero client installation; operates seamlessly on Chrome, Edge, Safari; lightweight bundle (&lt; 600 KB gzip).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Backend Tier: Node.js 20 LTS + Express 5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Asynchronous non-blocking event loop handles hundreds of concurrent heartbeat saves with low memory (~40MB).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Database Tier: MongoDB 7.0 + Mongoose 9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Flexible JSON document schema ideal for polymorphic questions, options arrays, and nested student attempt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Real-time Push: Socket.IO 4 (WebSockets)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Low-latency bidirectional room broadcasting (exam rooms &amp; attempt rooms) for live watchdog alerts and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Security Stack: JWT httpOnly Cookies + Helmet + Zod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Complete defense against XSS (no localStorage tokens), NoSQL injection sanitizers, and CSRF protection.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Deployment Tier: Vercel + Render + MongoDB Atlas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Cost-effective, highly available, production-grade cloud infrastructure with automated HTTPS certificates.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POINT 3 • METHODOLOGY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3. Suitable Process Model: Agile Iterative &amp; Incremental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11-Phase Incremental Sprints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1: Architecture, scaffold &amp; design system tokens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2: Auth, JWT httpOnly cookies &amp; protected routes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3: Admin dashboard &amp; platform user management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4: Teacher exam creation &amp; question bank palette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5-6: Student exam UI, auto-saving &amp; auto-grading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7: Evaluation portal &amp; faculty score analytics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8-9: Live proctoring watchdog &amp; audit logging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10: Automated test suite (Jest + Vitest) &amp; Error Boundary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✔ Phase 11: Security hardening (NoSQL sanitizer, rate limits) &amp; Cloud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Why Agile Incremental Model?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Risk De-escalation: Developing core data models and auth before real-time event listeners and countdown timers ensured structural integrity.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Early Validation: Automated grading calculations and server deadlines were tested in isolation with Jest before UI integration.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Evolving Proctoring Needs: Proctoring expanded from basic tab-switch logging to bidirectional WebSockets, smoothly accommodated in late iterations.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Continuous Regression Testing: Every sprint closed with automated verification (17 backend + 13 frontend tests passing).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POINT 4 • UML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4. Software Analysis: Use Case Diagram &amp; Actor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Admin Actor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View platform metrics (users, exams, attempts, uptime)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Filter users by role &amp; toggle account active/inactive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Review immutable security audit logs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Monitor system health &amp; readiness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Teacher Actor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Create &amp; configure exams (duration, schedule, negative marks)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Curate questions (MCQ Single, MCQ Multiple, True/False)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Publish / Archive examinations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Monitor live proctoring events &amp; send direct student warnings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Manually grade descriptive questions &amp; release results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Analyze pass rates &amp; score distributions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72B6"/>
                </a:solidFill>
              </a:defRPr>
            </a:pPr>
            <a:r>
              <a:t>Student Actor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Authenticate / Register account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Browse active published examinations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Grant fullscreen &amp; camera permissions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Take exam with live countdown &amp; auto-save heartbeat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Trigger proctoring watchdog telemetry on tab switch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Submit attempt &amp; view released scorecard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POINT 4 •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4. Software Analysis: Entity-Relationship &amp; Database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Users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Stores Admin, Teacher, and Student accounts with bcrypt-hashed passwords (cost factor 12) and accountStatus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Exams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Configures exam windows (startTime, endTime), durationMinutes, passingMarks, proctoring settings, and negative marking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Questions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Polymorphic schema for MCQs and descriptive questions. Crucially stores answerKey with select: false for network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ExamAttempts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Tracks attempt lifecycle (IN_PROGRESS, SUBMITTED, EXPIRED), server computed deadlineAt, score, and embedded student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ProctoringEvents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Logs integrity violations (TAB_SWITCH, FULLSCREEN_EXIT), durationMs, and teacher review status (UNREVIEWED, REVIEWED, DISMISSED).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AuditLogs Collection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Immutable append-only record capturing actorId, action, targetId, and timestamp for all privileged administrative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INTEGRITY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Student Examination &amp; Real-Time Proctoring Watchdog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1. Server-Authoritative Countdown: </a:t>
            </a:r>
            <a:r>
              <a:rPr sz="1200" b="0">
                <a:solidFill>
                  <a:srgbClr val="F1F5F9"/>
                </a:solidFill>
              </a:rPr>
              <a:t>The countdown timer is anchored strictly to database deadlineAt (min(startedAt + duration, endTime)). Client system clock tampering cannot add exam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2. HTML5 Fullscreen Enforcement: </a:t>
            </a:r>
            <a:r>
              <a:rPr sz="1200" b="0">
                <a:solidFill>
                  <a:srgbClr val="F1F5F9"/>
                </a:solidFill>
              </a:rPr>
              <a:t>Candidates are locked into full-screen mode. Pressing Esc or exiting triggers an immediate integrity warning dialog and database violation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3. Page Visibility &amp; Tab Tracking: </a:t>
            </a:r>
            <a:r>
              <a:rPr sz="1200" b="0">
                <a:solidFill>
                  <a:srgbClr val="F1F5F9"/>
                </a:solidFill>
              </a:rPr>
              <a:t>Listens for document visibilitychange and window blur. Navigating away to search engines or AI tools immediately increments violation counter.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4. Incremental Heartbeat Auto-Save: </a:t>
            </a:r>
            <a:r>
              <a:rPr sz="1200" b="0">
                <a:solidFill>
                  <a:srgbClr val="F1F5F9"/>
                </a:solidFill>
              </a:rPr>
              <a:t>Option selections trigger debounced PUT /api/attempts/:id/save. If internet temporarily drops, progress is safely stored in local state and restored upon reconnection.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5. Bidirectional WebSockets: </a:t>
            </a:r>
            <a:r>
              <a:rPr sz="1200" b="0">
                <a:solidFill>
                  <a:srgbClr val="F1F5F9"/>
                </a:solidFill>
              </a:rPr>
              <a:t>Proctoring violations push instantly via Socket.IO room (exam:examId). Instructors can issue immediate pop-up warnings (student:warning) to candidate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ASSESSMENT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Automated Grading Engine &amp; Faculty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Objective Auto-Grading Engine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Zero-Latency Evaluation: On POST /submit, single-choice, multi-choice, and True/False questions are instantly graded against question.answerKey.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Negative Marking Penalty: Supports configurable penalty deductions (e.g., -0.25 penalty), eliminating guessing advantages. Overall score clamped to Math.max(0, score).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Subjective Question Workflow: Descriptive and Short Answer questions flag attempt as MANUAL_PENDING for faculty review.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Teacher Evaluation Modal: Instructors award marks, write custom qualitative remarks, and finalize scorecards before releasing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Faculty Analytics Dashboard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Pass / Fail Rates: Automated visual calculation of passing percentages based on configured exam passingMarks.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Class Score Distribution: Displays highest score, lowest score, class average, and median performance metrics.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Question-Level Difficulty Index: Breakdown of accuracy percentages per question to identify confusing topics or curriculum gaps.</a:t>
            </a:r>
          </a:p>
          <a:p>
            <a:pPr>
              <a:spcBef>
                <a:spcPts val="1200"/>
              </a:spcBef>
              <a:defRPr sz="1200">
                <a:solidFill>
                  <a:srgbClr val="F1F5F9"/>
                </a:solidFill>
              </a:defRPr>
            </a:pPr>
            <a:r>
              <a:t>• Controlled Results Release: Students cannot view answer keys or scores until the instructor explicitly clicks 'Release Results'.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Security Hardening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NoSQL Injection Sanitization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Recursive middleware sanitizes req.body, req.query, and req.params, stripping any keys starting with $ or containing . (prevents operator injection).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Dual Token httpOnly Security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15-minute access tokens and 7-day refresh tokens stored in httpOnly, secure, sameSite: none cookies (immune to XSS token theft in localStorage).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Multi-Tier Rate Limiting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globalLimiter (200 req/min), authLimiter (15 req/15min), and proctoringLimiter (120 req/min) prevent brute-force and DoS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React Production Error Boundary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Catches unexpected runtime UI errors without blank screens, providing user recovery options ('Reload Page' and 'Go to Home').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17 Backend Tests (Jest + Supertest)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100% pass rate: Covers Health Check, Auth lifecycle, Exam CRUD, Publishing, Auto-grading, and Proctoring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13 Frontend Tests (Vitest)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100% pass rate: Covers Button states, Badge auto-coloring, Alert dismissal, ErrorBoundary catch, and timer formatters.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🚀 Live Cloud Deployment Links &amp; Demo Accounts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Frontend URL: https://online-examination-proctoring.vercel.app  (Vercel Edge Global CDN)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Backend API: https://online-examination-proctoring.onrender.com  (Render Container Service)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Cloud Database: MongoDB Atlas M0 Cluster (cluster0.4hrusic.mongodb.net)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Admin Login: admin@examportal.dev  |  Password: Admin@1234!  (Inspect metrics &amp; audit trail)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Teacher Login: prof.ahmad@college.edu  |  Password: Teacher@1234!  (Exam creation &amp; live watchdog review)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Student Login: jane.student@examportal.dev  |  Password: Student@1234!  (Take exam with webcam &amp; timer)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Project Status: All 11 implementation phases complete, 30 automated tests passing, 100% production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